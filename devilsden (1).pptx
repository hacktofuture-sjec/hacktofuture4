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6" r:id="rId3"/>
    <p:sldId id="258" r:id="rId4"/>
    <p:sldId id="266" r:id="rId5"/>
    <p:sldId id="271" r:id="rId6"/>
    <p:sldId id="267" r:id="rId7"/>
    <p:sldId id="268" r:id="rId8"/>
    <p:sldId id="269" r:id="rId9"/>
    <p:sldId id="270" r:id="rId10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12"/>
      <p:bold r:id="rId13"/>
      <p:italic r:id="rId14"/>
      <p:boldItalic r:id="rId15"/>
    </p:embeddedFont>
    <p:embeddedFont>
      <p:font typeface="Oswald" panose="00000500000000000000" pitchFamily="2" charset="0"/>
      <p:regular r:id="rId16"/>
      <p:bold r:id="rId17"/>
    </p:embeddedFont>
    <p:embeddedFont>
      <p:font typeface="Source Code Pro" panose="020B0509030403020204" pitchFamily="49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911E38-A550-4E06-9691-4BC051E9A576}">
  <a:tblStyle styleId="{20911E38-A550-4E06-9691-4BC051E9A5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6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font" Target="fonts/font10.fntdata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a3b51d0af_2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3da3b51d0af_2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a3b51d0af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3da3b51d0af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871A057B-9EC8-30B7-8ECD-31B846E73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a3b51d0af_2_64:notes">
            <a:extLst>
              <a:ext uri="{FF2B5EF4-FFF2-40B4-BE49-F238E27FC236}">
                <a16:creationId xmlns:a16="http://schemas.microsoft.com/office/drawing/2014/main" id="{76236774-265E-4C82-3018-F12615C321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3da3b51d0af_2_64:notes">
            <a:extLst>
              <a:ext uri="{FF2B5EF4-FFF2-40B4-BE49-F238E27FC236}">
                <a16:creationId xmlns:a16="http://schemas.microsoft.com/office/drawing/2014/main" id="{27026426-E7E7-1DD5-9A10-CC1F3C869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dirty="0"/>
              <a:t>Change content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0847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49C6538F-F291-4285-BAD5-89128C685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a3b51d0af_2_64:notes">
            <a:extLst>
              <a:ext uri="{FF2B5EF4-FFF2-40B4-BE49-F238E27FC236}">
                <a16:creationId xmlns:a16="http://schemas.microsoft.com/office/drawing/2014/main" id="{702D01A2-EE84-6814-BA41-CD4E808149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3da3b51d0af_2_64:notes">
            <a:extLst>
              <a:ext uri="{FF2B5EF4-FFF2-40B4-BE49-F238E27FC236}">
                <a16:creationId xmlns:a16="http://schemas.microsoft.com/office/drawing/2014/main" id="{60CD62B6-D063-7C4F-FA7A-A1A18A9B0B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dirty="0"/>
              <a:t>Naman fixing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7814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6A932C06-AC20-CA46-8701-662EB6669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a3b51d0af_2_69:notes">
            <a:extLst>
              <a:ext uri="{FF2B5EF4-FFF2-40B4-BE49-F238E27FC236}">
                <a16:creationId xmlns:a16="http://schemas.microsoft.com/office/drawing/2014/main" id="{8EA7C02C-22D8-CFCB-EAA9-DB44C9C67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3da3b51d0af_2_69:notes">
            <a:extLst>
              <a:ext uri="{FF2B5EF4-FFF2-40B4-BE49-F238E27FC236}">
                <a16:creationId xmlns:a16="http://schemas.microsoft.com/office/drawing/2014/main" id="{790FD57C-A641-9798-B7A7-9F18CEE373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dirty="0"/>
              <a:t>Can be better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53580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8CA0DC6B-4C99-4DB5-AE4F-9E84CB7E6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a3b51d0af_2_69:notes">
            <a:extLst>
              <a:ext uri="{FF2B5EF4-FFF2-40B4-BE49-F238E27FC236}">
                <a16:creationId xmlns:a16="http://schemas.microsoft.com/office/drawing/2014/main" id="{2473C211-B900-6B0F-DE15-4CC2D44EC6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3da3b51d0af_2_69:notes">
            <a:extLst>
              <a:ext uri="{FF2B5EF4-FFF2-40B4-BE49-F238E27FC236}">
                <a16:creationId xmlns:a16="http://schemas.microsoft.com/office/drawing/2014/main" id="{318DAEAC-E3D4-0F0D-9AEE-26F696522B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dirty="0"/>
              <a:t>Need structure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06443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D9CA87C6-700E-B24C-6961-4A8329C53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a3b51d0af_2_69:notes">
            <a:extLst>
              <a:ext uri="{FF2B5EF4-FFF2-40B4-BE49-F238E27FC236}">
                <a16:creationId xmlns:a16="http://schemas.microsoft.com/office/drawing/2014/main" id="{C84AEA76-EEEE-0068-0C67-FEF1AC146C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3da3b51d0af_2_69:notes">
            <a:extLst>
              <a:ext uri="{FF2B5EF4-FFF2-40B4-BE49-F238E27FC236}">
                <a16:creationId xmlns:a16="http://schemas.microsoft.com/office/drawing/2014/main" id="{AC4F62D3-6B29-AF17-2F17-49DF56AD5D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572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dern-writer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" name="Google Shape;62;p13"/>
          <p:cNvPicPr preferRelativeResize="0"/>
          <p:nvPr/>
        </p:nvPicPr>
        <p:blipFill rotWithShape="1">
          <a:blip r:embed="rId13">
            <a:alphaModFix amt="3000"/>
          </a:blip>
          <a:srcRect/>
          <a:stretch/>
        </p:blipFill>
        <p:spPr>
          <a:xfrm>
            <a:off x="2000263" y="0"/>
            <a:ext cx="5143499" cy="51434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 txBox="1">
            <a:spLocks noGrp="1"/>
          </p:cNvSpPr>
          <p:nvPr>
            <p:ph type="ctrTitle"/>
          </p:nvPr>
        </p:nvSpPr>
        <p:spPr>
          <a:xfrm>
            <a:off x="639563" y="1752888"/>
            <a:ext cx="4038573" cy="34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1700" dirty="0">
                <a:latin typeface="Fira Sans"/>
                <a:ea typeface="Fira Sans"/>
                <a:cs typeface="Fira Sans"/>
                <a:sym typeface="Fira Sans"/>
              </a:rPr>
              <a:t>Team: DEVILS DEN</a:t>
            </a:r>
            <a:endParaRPr sz="17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0" name="Google Shape;110;p25"/>
          <p:cNvSpPr txBox="1"/>
          <p:nvPr/>
        </p:nvSpPr>
        <p:spPr>
          <a:xfrm>
            <a:off x="567250" y="4208547"/>
            <a:ext cx="5946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500" dirty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Team Leader : naman.mani23@st.niituniversity.in</a:t>
            </a:r>
            <a:endParaRPr sz="1500" b="0" i="0" u="none" strike="noStrike" cap="none" dirty="0">
              <a:solidFill>
                <a:schemeClr val="tx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College Name: NIIT University</a:t>
            </a:r>
            <a:endParaRPr sz="1500" b="0" i="0" u="none" strike="noStrike" cap="none" dirty="0">
              <a:solidFill>
                <a:schemeClr val="tx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43D054-3525-45BA-0888-ABD150050D21}"/>
              </a:ext>
            </a:extLst>
          </p:cNvPr>
          <p:cNvGrpSpPr/>
          <p:nvPr/>
        </p:nvGrpSpPr>
        <p:grpSpPr>
          <a:xfrm>
            <a:off x="525263" y="3031020"/>
            <a:ext cx="3015287" cy="1215730"/>
            <a:chOff x="1939349" y="2364744"/>
            <a:chExt cx="5073001" cy="1215730"/>
          </a:xfrm>
        </p:grpSpPr>
        <p:sp>
          <p:nvSpPr>
            <p:cNvPr id="2" name="Google Shape;109;p25"/>
            <p:cNvSpPr txBox="1"/>
            <p:nvPr/>
          </p:nvSpPr>
          <p:spPr>
            <a:xfrm>
              <a:off x="2131650" y="2703341"/>
              <a:ext cx="4880700" cy="8771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marR="0" lvl="0" indent="-3429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Fira Sans"/>
                <a:buChar char="●"/>
              </a:pPr>
              <a:r>
                <a:rPr lang="en" sz="1500" dirty="0">
                  <a:solidFill>
                    <a:schemeClr val="tx1"/>
                  </a:solidFill>
                  <a:latin typeface="Fira Sans"/>
                  <a:ea typeface="Fira Sans"/>
                  <a:cs typeface="Fira Sans"/>
                  <a:sym typeface="Fira Sans"/>
                </a:rPr>
                <a:t>Tanya Rishikesh</a:t>
              </a:r>
              <a:endParaRPr sz="1500" dirty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endParaRPr>
            </a:p>
            <a:p>
              <a:pPr marL="457200" marR="0" lvl="0" indent="-3429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Fira Sans"/>
                <a:buChar char="●"/>
              </a:pPr>
              <a:r>
                <a:rPr lang="en" sz="1500" dirty="0">
                  <a:solidFill>
                    <a:schemeClr val="tx1"/>
                  </a:solidFill>
                  <a:latin typeface="Fira Sans"/>
                  <a:ea typeface="Fira Sans"/>
                  <a:cs typeface="Fira Sans"/>
                  <a:sym typeface="Fira Sans"/>
                </a:rPr>
                <a:t>Naman Mani</a:t>
              </a:r>
              <a:endParaRPr sz="1500" b="0" i="0" u="none" strike="noStrike" cap="none" dirty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endParaRPr>
            </a:p>
            <a:p>
              <a:pPr marL="457200" marR="0" lvl="0" indent="-34290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Fira Sans"/>
                <a:buChar char="●"/>
              </a:pPr>
              <a:r>
                <a:rPr lang="en" sz="1500" dirty="0">
                  <a:solidFill>
                    <a:schemeClr val="tx1"/>
                  </a:solidFill>
                  <a:latin typeface="Fira Sans"/>
                  <a:ea typeface="Fira Sans"/>
                  <a:cs typeface="Fira Sans"/>
                  <a:sym typeface="Fira Sans"/>
                </a:rPr>
                <a:t>Indraneel Chatterjee</a:t>
              </a:r>
              <a:endParaRPr sz="1500" b="0" i="0" u="none" strike="noStrike" cap="none" dirty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" name="Google Shape;109;p25">
              <a:extLst>
                <a:ext uri="{FF2B5EF4-FFF2-40B4-BE49-F238E27FC236}">
                  <a16:creationId xmlns:a16="http://schemas.microsoft.com/office/drawing/2014/main" id="{3394601F-4004-E266-EC99-C5CABD921B99}"/>
                </a:ext>
              </a:extLst>
            </p:cNvPr>
            <p:cNvSpPr txBox="1"/>
            <p:nvPr/>
          </p:nvSpPr>
          <p:spPr>
            <a:xfrm>
              <a:off x="1939349" y="2364744"/>
              <a:ext cx="4880700" cy="4154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114300" marR="0" lvl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</a:pPr>
              <a:r>
                <a:rPr lang="en-IN" sz="1500" b="0" i="0" u="none" strike="noStrike" cap="none" dirty="0">
                  <a:solidFill>
                    <a:schemeClr val="tx1"/>
                  </a:solidFill>
                  <a:latin typeface="Fira Sans"/>
                  <a:ea typeface="Fira Sans"/>
                  <a:cs typeface="Fira Sans"/>
                  <a:sym typeface="Fira Sans"/>
                </a:rPr>
                <a:t>Team Members:</a:t>
              </a:r>
              <a:endParaRPr sz="1500" b="0" i="0" u="none" strike="noStrike" cap="none" dirty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6" name="Google Shape;108;p25">
            <a:extLst>
              <a:ext uri="{FF2B5EF4-FFF2-40B4-BE49-F238E27FC236}">
                <a16:creationId xmlns:a16="http://schemas.microsoft.com/office/drawing/2014/main" id="{8722ACDD-8F01-BD94-D7F3-5774ACA0A11A}"/>
              </a:ext>
            </a:extLst>
          </p:cNvPr>
          <p:cNvSpPr txBox="1">
            <a:spLocks/>
          </p:cNvSpPr>
          <p:nvPr/>
        </p:nvSpPr>
        <p:spPr>
          <a:xfrm>
            <a:off x="793310" y="110015"/>
            <a:ext cx="7557380" cy="1198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5400" b="1" u="sng" dirty="0">
                <a:latin typeface="Fira Sans"/>
                <a:ea typeface="Fira Sans"/>
                <a:cs typeface="Fira Sans"/>
                <a:sym typeface="Fira Sans"/>
              </a:rPr>
              <a:t>PIPELINE IQ</a:t>
            </a:r>
          </a:p>
          <a:p>
            <a:r>
              <a:rPr lang="en" sz="1800" b="1" u="sng" dirty="0">
                <a:latin typeface="Fira Sans"/>
                <a:ea typeface="Fira Sans"/>
                <a:cs typeface="Fira Sans"/>
                <a:sym typeface="Fira Sans"/>
              </a:rPr>
              <a:t>Agentic CI/CD Repair &amp; Intelligent Release Orchestration</a:t>
            </a:r>
            <a:endParaRPr lang="en-IN" sz="1800" b="1" u="sng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" name="Google Shape;108;p25">
            <a:extLst>
              <a:ext uri="{FF2B5EF4-FFF2-40B4-BE49-F238E27FC236}">
                <a16:creationId xmlns:a16="http://schemas.microsoft.com/office/drawing/2014/main" id="{CC3FE5AF-05B1-73C7-0975-7975DF890ED7}"/>
              </a:ext>
            </a:extLst>
          </p:cNvPr>
          <p:cNvSpPr txBox="1">
            <a:spLocks/>
          </p:cNvSpPr>
          <p:nvPr/>
        </p:nvSpPr>
        <p:spPr>
          <a:xfrm>
            <a:off x="639563" y="1707241"/>
            <a:ext cx="4384016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IN" sz="1700" dirty="0">
                <a:latin typeface="Fira Sans"/>
                <a:ea typeface="Fira Sans"/>
                <a:cs typeface="Fira Sans"/>
                <a:sym typeface="Fira Sans"/>
              </a:rPr>
              <a:t>Domain: DevOps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548E48-704C-FE69-08FB-33BEE097E787}"/>
              </a:ext>
            </a:extLst>
          </p:cNvPr>
          <p:cNvSpPr txBox="1"/>
          <p:nvPr/>
        </p:nvSpPr>
        <p:spPr>
          <a:xfrm>
            <a:off x="639563" y="2445495"/>
            <a:ext cx="4572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700" dirty="0">
                <a:latin typeface="Fira Sans"/>
                <a:ea typeface="Fira Sans"/>
                <a:cs typeface="Fira Sans"/>
                <a:sym typeface="Fira Sans"/>
              </a:rPr>
              <a:t>Problem Statement: T1PS1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7"/>
          <p:cNvSpPr txBox="1">
            <a:spLocks noGrp="1"/>
          </p:cNvSpPr>
          <p:nvPr>
            <p:ph type="title"/>
          </p:nvPr>
        </p:nvSpPr>
        <p:spPr>
          <a:xfrm>
            <a:off x="310100" y="23280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u="sng" dirty="0">
                <a:latin typeface="Fira Sans"/>
                <a:ea typeface="Fira Sans"/>
                <a:cs typeface="Fira Sans"/>
                <a:sym typeface="Fira Sans"/>
              </a:rPr>
              <a:t>Solution Overview: </a:t>
            </a:r>
            <a:r>
              <a:rPr lang="en" b="1" u="sng" dirty="0">
                <a:latin typeface="Fira Sans"/>
                <a:ea typeface="Fira Sans"/>
                <a:cs typeface="Fira Sans"/>
                <a:sym typeface="Fira Sans"/>
              </a:rPr>
              <a:t>Pipeline IQ</a:t>
            </a:r>
            <a:endParaRPr b="1" u="sng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3" name="Google Shape;123;p27"/>
          <p:cNvSpPr txBox="1">
            <a:spLocks noGrp="1"/>
          </p:cNvSpPr>
          <p:nvPr>
            <p:ph type="body" idx="1"/>
          </p:nvPr>
        </p:nvSpPr>
        <p:spPr>
          <a:xfrm>
            <a:off x="530600" y="805507"/>
            <a:ext cx="8079600" cy="10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530"/>
              <a:buNone/>
            </a:pPr>
            <a:r>
              <a:rPr lang="en" sz="1230" dirty="0">
                <a:latin typeface="Fira Sans"/>
                <a:ea typeface="Fira Sans"/>
                <a:cs typeface="Fira Sans"/>
                <a:sym typeface="Fira Sans"/>
              </a:rPr>
              <a:t>A multi-agent orchestration system that monitors CI/CD pipelines in real-time, diagnoses failures using contextual signals from commits, logs, and tests then repairs common issues while enforcing human-on-the-loop governance for high-risk deployments actions. Built on event-driven architecture powered by Apache Kafka, independent AI agent process pipeline events asynchronously, enabling scalable monitoring, automated remedies and complete auditing of the fixes</a:t>
            </a:r>
            <a:endParaRPr sz="1230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25" name="Google Shape;125;p27" title="Core Capabilities - visual selection(2).png"/>
          <p:cNvPicPr preferRelativeResize="0"/>
          <p:nvPr/>
        </p:nvPicPr>
        <p:blipFill>
          <a:blip r:embed="rId3">
            <a:alphaModFix/>
          </a:blip>
          <a:srcRect t="9660"/>
          <a:stretch>
            <a:fillRect/>
          </a:stretch>
        </p:blipFill>
        <p:spPr>
          <a:xfrm>
            <a:off x="530600" y="1959430"/>
            <a:ext cx="8301700" cy="316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70B76C51-A5C5-A6EA-EA89-7E3C5048F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7">
            <a:extLst>
              <a:ext uri="{FF2B5EF4-FFF2-40B4-BE49-F238E27FC236}">
                <a16:creationId xmlns:a16="http://schemas.microsoft.com/office/drawing/2014/main" id="{D131A580-A1DC-8C17-8CB0-5FF0039622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32754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ctr">
              <a:lnSpc>
                <a:spcPct val="90000"/>
              </a:lnSpc>
              <a:buSzPct val="111111"/>
            </a:pPr>
            <a:r>
              <a:rPr lang="en-IN" b="1" u="sng" dirty="0"/>
              <a:t>The 4-Agents Workflow</a:t>
            </a:r>
          </a:p>
        </p:txBody>
      </p:sp>
      <p:pic>
        <p:nvPicPr>
          <p:cNvPr id="124" name="Google Shape;124;p27" title="Core Capabilities - visual selection(1).png"/>
          <p:cNvPicPr preferRelativeResize="0"/>
          <p:nvPr/>
        </p:nvPicPr>
        <p:blipFill>
          <a:blip r:embed="rId3"/>
          <a:srcRect l="1821" r="-2" b="-2"/>
          <a:stretch>
            <a:fillRect/>
          </a:stretch>
        </p:blipFill>
        <p:spPr>
          <a:xfrm>
            <a:off x="4669972" y="1102088"/>
            <a:ext cx="4366985" cy="352706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1B7E2-E39C-084A-0390-905F81D824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205014" y="1755096"/>
            <a:ext cx="4366986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ra Sans" panose="020B0503050000020004" pitchFamily="34" charset="0"/>
              </a:rPr>
              <a:t>Monitor Agent: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US" altLang="en-US" sz="1700" dirty="0">
                <a:solidFill>
                  <a:schemeClr val="tx1"/>
                </a:solidFill>
                <a:latin typeface="Fira Sans" panose="020B0503050000020004" pitchFamily="34" charset="0"/>
              </a:rPr>
              <a:t>R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ra Sans" panose="020B0503050000020004" pitchFamily="34" charset="0"/>
              </a:rPr>
              <a:t>eads pipeline data and detect anomalies(</a:t>
            </a:r>
            <a:r>
              <a:rPr lang="en-US" altLang="en-US" sz="1700" dirty="0">
                <a:solidFill>
                  <a:schemeClr val="tx1"/>
                </a:solidFill>
                <a:latin typeface="Fira Sans" panose="020B0503050000020004" pitchFamily="34" charset="0"/>
              </a:rPr>
              <a:t>if any)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ira Sans" panose="020B05030500000200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ra Sans" panose="020B0503050000020004" pitchFamily="34" charset="0"/>
              </a:rPr>
              <a:t>Diagnosis Agent: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ra Sans" panose="020B0503050000020004" pitchFamily="34" charset="0"/>
              </a:rPr>
              <a:t> Analyzes reports and context to find the "Why“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ra Sans" panose="020B0503050000020004" pitchFamily="34" charset="0"/>
              </a:rPr>
              <a:t>Risk Classifier: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ra Sans" panose="020B0503050000020004" pitchFamily="34" charset="0"/>
              </a:rPr>
              <a:t> Determines if </a:t>
            </a:r>
            <a:r>
              <a:rPr lang="en-US" altLang="en-US" sz="1700" dirty="0">
                <a:solidFill>
                  <a:schemeClr val="tx1"/>
                </a:solidFill>
                <a:latin typeface="Fira Sans" panose="020B0503050000020004" pitchFamily="34" charset="0"/>
              </a:rPr>
              <a:t>issue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ra Sans" panose="020B0503050000020004" pitchFamily="34" charset="0"/>
              </a:rPr>
              <a:t>is minor or high-risk based on environment and impact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ra Sans" panose="020B0503050000020004" pitchFamily="34" charset="0"/>
              </a:rPr>
              <a:t>Auto-Fix Agent: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ira Sans" panose="020B0503050000020004" pitchFamily="34" charset="0"/>
              </a:rPr>
              <a:t> Applies the repair and retries the pipeline</a:t>
            </a:r>
          </a:p>
        </p:txBody>
      </p:sp>
    </p:spTree>
    <p:extLst>
      <p:ext uri="{BB962C8B-B14F-4D97-AF65-F5344CB8AC3E}">
        <p14:creationId xmlns:p14="http://schemas.microsoft.com/office/powerpoint/2010/main" val="295798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F2B96-83DD-1AAC-E0FF-496FAF841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98068"/>
            <a:ext cx="8520600" cy="572700"/>
          </a:xfrm>
        </p:spPr>
        <p:txBody>
          <a:bodyPr wrap="square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IN" sz="2600" b="1" u="sng" dirty="0"/>
              <a:t>The Self-Learning Engine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03432-3EBA-2722-DCE7-E94984B9E44B}"/>
              </a:ext>
            </a:extLst>
          </p:cNvPr>
          <p:cNvSpPr txBox="1"/>
          <p:nvPr/>
        </p:nvSpPr>
        <p:spPr>
          <a:xfrm>
            <a:off x="311700" y="1208225"/>
            <a:ext cx="4069800" cy="3264408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i="0" u="none" strike="noStrike" cap="none" dirty="0">
                <a:solidFill>
                  <a:schemeClr val="dk1"/>
                </a:solidFill>
              </a:rPr>
              <a:t>Feedback Loops: </a:t>
            </a:r>
            <a:r>
              <a:rPr lang="en-US" sz="1700" b="0" i="0" u="none" strike="noStrike" cap="none" dirty="0">
                <a:solidFill>
                  <a:schemeClr val="dk1"/>
                </a:solidFill>
              </a:rPr>
              <a:t>Every successful fix and every human intervention is stored in a Knowledge Memory (MongoDB).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b="0" i="0" u="none" strike="noStrike" cap="none" dirty="0">
              <a:solidFill>
                <a:schemeClr val="dk1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i="0" u="none" strike="noStrike" cap="none" dirty="0">
                <a:solidFill>
                  <a:schemeClr val="dk1"/>
                </a:solidFill>
              </a:rPr>
              <a:t>Prompt Enrichment: </a:t>
            </a:r>
            <a:r>
              <a:rPr lang="en-US" sz="1700" b="0" i="0" u="none" strike="noStrike" cap="none" dirty="0">
                <a:solidFill>
                  <a:schemeClr val="dk1"/>
                </a:solidFill>
              </a:rPr>
              <a:t>The system uses past incident history to "prime" the Diagnosis and Risk agents for future errors.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b="0" i="0" u="none" strike="noStrike" cap="none" dirty="0">
              <a:solidFill>
                <a:schemeClr val="dk1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i="0" u="none" strike="noStrike" cap="none" dirty="0">
                <a:solidFill>
                  <a:schemeClr val="dk1"/>
                </a:solidFill>
              </a:rPr>
              <a:t>The Result: </a:t>
            </a:r>
            <a:r>
              <a:rPr lang="en-US" sz="1700" b="0" i="0" u="none" strike="noStrike" cap="none" dirty="0">
                <a:solidFill>
                  <a:schemeClr val="dk1"/>
                </a:solidFill>
              </a:rPr>
              <a:t>The system doesn't just fix errors; it evolves to predict and prevent them based on your specific codebase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3F7D43-0820-DA68-0C3F-2475075E8C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50" t="3555" r="2221" b="9775"/>
          <a:stretch>
            <a:fillRect/>
          </a:stretch>
        </p:blipFill>
        <p:spPr>
          <a:xfrm>
            <a:off x="4762502" y="1017725"/>
            <a:ext cx="4069798" cy="37242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2739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5919ACE4-9DBA-6E69-560C-1BA7FA514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7">
            <a:extLst>
              <a:ext uri="{FF2B5EF4-FFF2-40B4-BE49-F238E27FC236}">
                <a16:creationId xmlns:a16="http://schemas.microsoft.com/office/drawing/2014/main" id="{330BB00C-9904-FA1E-01E4-FB060062F0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1806" y="119746"/>
            <a:ext cx="168038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buSzPct val="111111"/>
            </a:pPr>
            <a:r>
              <a:rPr lang="en-IN" b="1" u="sng" dirty="0"/>
              <a:t>Workflow </a:t>
            </a:r>
            <a:endParaRPr b="1" u="sng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14DA96-76D1-612C-BBA7-8A9715AE4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45" y="906336"/>
            <a:ext cx="8210509" cy="411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579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81965D4D-8903-F8E0-5CF4-E926D0649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>
            <a:extLst>
              <a:ext uri="{FF2B5EF4-FFF2-40B4-BE49-F238E27FC236}">
                <a16:creationId xmlns:a16="http://schemas.microsoft.com/office/drawing/2014/main" id="{DB56CE28-6DAA-8E0C-BB0D-ECE8C9161C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41750" y="167440"/>
            <a:ext cx="5860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114300" algn="ctr"/>
            <a:r>
              <a:rPr lang="en-US" b="1" u="sng" dirty="0"/>
              <a:t>Safety &amp; Governance</a:t>
            </a:r>
            <a:endParaRPr lang="en-US" u="sng" dirty="0"/>
          </a:p>
        </p:txBody>
      </p:sp>
      <p:sp>
        <p:nvSpPr>
          <p:cNvPr id="134" name="Google Shape;134;p28">
            <a:extLst>
              <a:ext uri="{FF2B5EF4-FFF2-40B4-BE49-F238E27FC236}">
                <a16:creationId xmlns:a16="http://schemas.microsoft.com/office/drawing/2014/main" id="{BF286D7E-A92C-0901-7EAB-DB878289A2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2945" y="771725"/>
            <a:ext cx="6574907" cy="2119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300" b="1" dirty="0">
                <a:solidFill>
                  <a:schemeClr val="tx1"/>
                </a:solidFill>
              </a:rPr>
              <a:t>Risk-Based Decision Making</a:t>
            </a:r>
            <a:br>
              <a:rPr lang="en-US" sz="1300" dirty="0">
                <a:solidFill>
                  <a:schemeClr val="tx1"/>
                </a:solidFill>
              </a:rPr>
            </a:br>
            <a:r>
              <a:rPr lang="en-US" sz="1300" dirty="0">
                <a:solidFill>
                  <a:schemeClr val="tx1"/>
                </a:solidFill>
              </a:rPr>
              <a:t>Actions are classified based on environment, change impact, and failure severity </a:t>
            </a:r>
          </a:p>
          <a:p>
            <a:r>
              <a:rPr lang="en-US" sz="1300" b="1" dirty="0">
                <a:solidFill>
                  <a:schemeClr val="tx1"/>
                </a:solidFill>
              </a:rPr>
              <a:t>Human-in-the-Loop Approval</a:t>
            </a:r>
            <a:br>
              <a:rPr lang="en-US" sz="1300" dirty="0">
                <a:solidFill>
                  <a:schemeClr val="tx1"/>
                </a:solidFill>
              </a:rPr>
            </a:br>
            <a:r>
              <a:rPr lang="en-US" sz="1300" dirty="0">
                <a:solidFill>
                  <a:schemeClr val="tx1"/>
                </a:solidFill>
              </a:rPr>
              <a:t>High-risk fixes require explicit approval before execution </a:t>
            </a:r>
          </a:p>
          <a:p>
            <a:r>
              <a:rPr lang="en-US" sz="1300" b="1" dirty="0">
                <a:solidFill>
                  <a:schemeClr val="tx1"/>
                </a:solidFill>
              </a:rPr>
              <a:t>Controlled Auto-Fix Mechanism</a:t>
            </a:r>
            <a:br>
              <a:rPr lang="en-US" sz="1300" dirty="0">
                <a:solidFill>
                  <a:schemeClr val="tx1"/>
                </a:solidFill>
              </a:rPr>
            </a:br>
            <a:r>
              <a:rPr lang="en-US" sz="1300" dirty="0">
                <a:solidFill>
                  <a:schemeClr val="tx1"/>
                </a:solidFill>
              </a:rPr>
              <a:t>Limits repeated attempts to prevent infinite or unsafe actions </a:t>
            </a:r>
          </a:p>
          <a:p>
            <a:r>
              <a:rPr lang="en-US" sz="1300" b="1" dirty="0">
                <a:solidFill>
                  <a:schemeClr val="tx1"/>
                </a:solidFill>
              </a:rPr>
              <a:t>Audit &amp; Transparency</a:t>
            </a:r>
            <a:br>
              <a:rPr lang="en-US" sz="1300" dirty="0">
                <a:solidFill>
                  <a:schemeClr val="tx1"/>
                </a:solidFill>
              </a:rPr>
            </a:br>
            <a:r>
              <a:rPr lang="en-US" sz="1300" dirty="0">
                <a:solidFill>
                  <a:schemeClr val="tx1"/>
                </a:solidFill>
              </a:rPr>
              <a:t>All actions, decisions, and fixes are logged for traceability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A6FFDB-3701-B450-0209-E75BDA0AC5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96" t="24762" r="15609" b="23333"/>
          <a:stretch>
            <a:fillRect/>
          </a:stretch>
        </p:blipFill>
        <p:spPr>
          <a:xfrm>
            <a:off x="6232623" y="3132036"/>
            <a:ext cx="2837898" cy="14233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F57D7E-7CBB-590C-5961-304072E2E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62" y="2816965"/>
            <a:ext cx="1957473" cy="20564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0135C8-5023-B9D9-DE60-4BEA73E27072}"/>
              </a:ext>
            </a:extLst>
          </p:cNvPr>
          <p:cNvSpPr txBox="1"/>
          <p:nvPr/>
        </p:nvSpPr>
        <p:spPr>
          <a:xfrm>
            <a:off x="663013" y="4837560"/>
            <a:ext cx="19574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Setting up Risk Threshold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5F10E1-8D59-88A9-5538-11B7847F6999}"/>
              </a:ext>
            </a:extLst>
          </p:cNvPr>
          <p:cNvSpPr txBox="1"/>
          <p:nvPr/>
        </p:nvSpPr>
        <p:spPr>
          <a:xfrm>
            <a:off x="7099574" y="4452252"/>
            <a:ext cx="1330779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Human Approval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BD2EC9-8438-BC37-4FDF-FB30CC6940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1208" y="2849114"/>
            <a:ext cx="2837899" cy="18801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6D77792-D262-05AD-7D88-D8425D09844A}"/>
              </a:ext>
            </a:extLst>
          </p:cNvPr>
          <p:cNvSpPr txBox="1"/>
          <p:nvPr/>
        </p:nvSpPr>
        <p:spPr>
          <a:xfrm>
            <a:off x="3380014" y="4761401"/>
            <a:ext cx="25390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Logs for Transparency &amp; Audit</a:t>
            </a:r>
          </a:p>
        </p:txBody>
      </p:sp>
    </p:spTree>
    <p:extLst>
      <p:ext uri="{BB962C8B-B14F-4D97-AF65-F5344CB8AC3E}">
        <p14:creationId xmlns:p14="http://schemas.microsoft.com/office/powerpoint/2010/main" val="3153489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6892D75F-CC1B-C0FD-2F34-7C8102279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>
            <a:extLst>
              <a:ext uri="{FF2B5EF4-FFF2-40B4-BE49-F238E27FC236}">
                <a16:creationId xmlns:a16="http://schemas.microsoft.com/office/drawing/2014/main" id="{6731F64C-1DFA-5C57-9BF5-E0A614CFD6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9844" y="104153"/>
            <a:ext cx="740583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114300" algn="ctr"/>
            <a:r>
              <a:rPr lang="en-US" b="1" u="sng" dirty="0"/>
              <a:t>Comparative Analysis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39AE10-682D-B507-BF1C-822F7DC64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665221"/>
              </p:ext>
            </p:extLst>
          </p:nvPr>
        </p:nvGraphicFramePr>
        <p:xfrm>
          <a:off x="1141890" y="828430"/>
          <a:ext cx="7261745" cy="3486640"/>
        </p:xfrm>
        <a:graphic>
          <a:graphicData uri="http://schemas.openxmlformats.org/drawingml/2006/table">
            <a:tbl>
              <a:tblPr>
                <a:tableStyleId>{20911E38-A550-4E06-9691-4BC051E9A576}</a:tableStyleId>
              </a:tblPr>
              <a:tblGrid>
                <a:gridCol w="1452349">
                  <a:extLst>
                    <a:ext uri="{9D8B030D-6E8A-4147-A177-3AD203B41FA5}">
                      <a16:colId xmlns:a16="http://schemas.microsoft.com/office/drawing/2014/main" val="3180599743"/>
                    </a:ext>
                  </a:extLst>
                </a:gridCol>
                <a:gridCol w="1452349">
                  <a:extLst>
                    <a:ext uri="{9D8B030D-6E8A-4147-A177-3AD203B41FA5}">
                      <a16:colId xmlns:a16="http://schemas.microsoft.com/office/drawing/2014/main" val="2730279867"/>
                    </a:ext>
                  </a:extLst>
                </a:gridCol>
                <a:gridCol w="1452349">
                  <a:extLst>
                    <a:ext uri="{9D8B030D-6E8A-4147-A177-3AD203B41FA5}">
                      <a16:colId xmlns:a16="http://schemas.microsoft.com/office/drawing/2014/main" val="452423542"/>
                    </a:ext>
                  </a:extLst>
                </a:gridCol>
                <a:gridCol w="1452349">
                  <a:extLst>
                    <a:ext uri="{9D8B030D-6E8A-4147-A177-3AD203B41FA5}">
                      <a16:colId xmlns:a16="http://schemas.microsoft.com/office/drawing/2014/main" val="3489884430"/>
                    </a:ext>
                  </a:extLst>
                </a:gridCol>
                <a:gridCol w="1452349">
                  <a:extLst>
                    <a:ext uri="{9D8B030D-6E8A-4147-A177-3AD203B41FA5}">
                      <a16:colId xmlns:a16="http://schemas.microsoft.com/office/drawing/2014/main" val="2073040909"/>
                    </a:ext>
                  </a:extLst>
                </a:gridCol>
              </a:tblGrid>
              <a:tr h="25263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CodeRabbit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GitHub Copilot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PagerDuty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Pipeline IQ</a:t>
                      </a:r>
                      <a:endParaRPr lang="en-IN" sz="1400" dirty="0"/>
                    </a:p>
                  </a:txBody>
                  <a:tcPr marL="89121" marR="89121" marT="44560" marB="4456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755079"/>
                  </a:ext>
                </a:extLst>
              </a:tr>
              <a:tr h="252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Stage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Pre-merge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Code writing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Post-failure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CI/CD runtime</a:t>
                      </a:r>
                    </a:p>
                  </a:txBody>
                  <a:tcPr marL="89121" marR="89121" marT="44560" marB="445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111110"/>
                  </a:ext>
                </a:extLst>
              </a:tr>
              <a:tr h="4308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Understands pipeline context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❌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✅</a:t>
                      </a:r>
                    </a:p>
                  </a:txBody>
                  <a:tcPr marL="89121" marR="89121" marT="44560" marB="445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043262"/>
                  </a:ext>
                </a:extLst>
              </a:tr>
              <a:tr h="450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Uses logs + tests + commits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/>
                        <a:t>✅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✅</a:t>
                      </a:r>
                    </a:p>
                  </a:txBody>
                  <a:tcPr marL="89121" marR="89121" marT="44560" marB="445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292796"/>
                  </a:ext>
                </a:extLst>
              </a:tr>
              <a:tr h="252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Suggests fixes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✅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✅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/>
                        <a:t>✅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✅</a:t>
                      </a:r>
                    </a:p>
                  </a:txBody>
                  <a:tcPr marL="89121" marR="89121" marT="44560" marB="445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105669"/>
                  </a:ext>
                </a:extLst>
              </a:tr>
              <a:tr h="4308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Auto-fixes small issues</a:t>
                      </a:r>
                      <a:endParaRPr lang="en-IN" sz="1400"/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❌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✅</a:t>
                      </a:r>
                    </a:p>
                  </a:txBody>
                  <a:tcPr marL="89121" marR="89121" marT="44560" marB="445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620906"/>
                  </a:ext>
                </a:extLst>
              </a:tr>
              <a:tr h="4308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Human-in-loop governance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/>
                        <a:t>✅</a:t>
                      </a:r>
                    </a:p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✅</a:t>
                      </a:r>
                    </a:p>
                  </a:txBody>
                  <a:tcPr marL="89121" marR="89121" marT="44560" marB="445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664669"/>
                  </a:ext>
                </a:extLst>
              </a:tr>
              <a:tr h="4308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Resolves pipeline failures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❌</a:t>
                      </a:r>
                    </a:p>
                  </a:txBody>
                  <a:tcPr marL="89121" marR="89121" marT="44560" marB="445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✅</a:t>
                      </a:r>
                    </a:p>
                  </a:txBody>
                  <a:tcPr marL="89121" marR="89121" marT="44560" marB="4456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25346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F251155-7CE0-3879-16C4-EA10E438C83F}"/>
              </a:ext>
            </a:extLst>
          </p:cNvPr>
          <p:cNvSpPr txBox="1"/>
          <p:nvPr/>
        </p:nvSpPr>
        <p:spPr>
          <a:xfrm>
            <a:off x="85939" y="4466647"/>
            <a:ext cx="89721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1" dirty="0"/>
              <a:t>Existing tools focus on code creation, review, or alerting. Pipeline IQ focuses on </a:t>
            </a:r>
            <a:r>
              <a:rPr lang="en-US" sz="1000" b="1" i="1" dirty="0"/>
              <a:t>actively resolving CI/CD failures in real time</a:t>
            </a:r>
            <a:r>
              <a:rPr lang="en-US" sz="1000" i="1" dirty="0"/>
              <a:t> using contextual intelligence.</a:t>
            </a:r>
            <a:endParaRPr lang="en-IN" sz="1000" i="1" dirty="0"/>
          </a:p>
        </p:txBody>
      </p:sp>
    </p:spTree>
    <p:extLst>
      <p:ext uri="{BB962C8B-B14F-4D97-AF65-F5344CB8AC3E}">
        <p14:creationId xmlns:p14="http://schemas.microsoft.com/office/powerpoint/2010/main" val="3368503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842C7A55-94C7-A9FE-7686-537343C73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>
            <a:extLst>
              <a:ext uri="{FF2B5EF4-FFF2-40B4-BE49-F238E27FC236}">
                <a16:creationId xmlns:a16="http://schemas.microsoft.com/office/drawing/2014/main" id="{DA9DB657-048E-FE15-CA97-9A835732F6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560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algn="ctr"/>
            <a:r>
              <a:rPr lang="en-IN" b="1" u="sng" dirty="0"/>
              <a:t>Conclusion</a:t>
            </a:r>
            <a:endParaRPr lang="en-US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83A1FF-2BB7-706C-27DE-5D4530469E43}"/>
              </a:ext>
            </a:extLst>
          </p:cNvPr>
          <p:cNvSpPr txBox="1"/>
          <p:nvPr/>
        </p:nvSpPr>
        <p:spPr>
          <a:xfrm>
            <a:off x="311699" y="925453"/>
            <a:ext cx="8520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b="1" dirty="0"/>
              <a:t>Pipeline IQ redefines CI/CD by transforming pipelines from reactive systems into intelligent, self-healing ecosystems.</a:t>
            </a:r>
            <a:br>
              <a:rPr lang="en-IN" sz="1500" dirty="0"/>
            </a:br>
            <a:r>
              <a:rPr lang="en-IN" sz="1500" dirty="0"/>
              <a:t>By combining multi-agent AI, event-driven architecture, and human-in-the-loop governance, we reduce debugging effort, minimize downtime, and enable safer, faster releases.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04A154-CD42-083E-ED05-CD2297447864}"/>
              </a:ext>
            </a:extLst>
          </p:cNvPr>
          <p:cNvSpPr txBox="1"/>
          <p:nvPr/>
        </p:nvSpPr>
        <p:spPr>
          <a:xfrm>
            <a:off x="311699" y="2091433"/>
            <a:ext cx="54359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500" b="1" dirty="0"/>
              <a:t>Key Takeaways &amp; Future Scope</a:t>
            </a:r>
          </a:p>
          <a:p>
            <a:pPr>
              <a:buNone/>
            </a:pPr>
            <a:endParaRPr lang="en-IN" sz="15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 Automated failure diagnosis &amp; real-time auto-repair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 Context-aware decisions using logs, commits &amp; test signals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 Risk-aware deployment with human approval layer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500" dirty="0"/>
              <a:t> Scalable architecture using event-driven systems (Kafka)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710E14-84DA-9881-9A5D-C01DC109B16D}"/>
              </a:ext>
            </a:extLst>
          </p:cNvPr>
          <p:cNvSpPr txBox="1"/>
          <p:nvPr/>
        </p:nvSpPr>
        <p:spPr>
          <a:xfrm>
            <a:off x="311699" y="3442079"/>
            <a:ext cx="476219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500" dirty="0"/>
              <a:t>Integration with tools like Jenkins, Kubernetes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500" dirty="0"/>
              <a:t>Scalable for enterprise DevOps</a:t>
            </a:r>
          </a:p>
        </p:txBody>
      </p:sp>
    </p:spTree>
    <p:extLst>
      <p:ext uri="{BB962C8B-B14F-4D97-AF65-F5344CB8AC3E}">
        <p14:creationId xmlns:p14="http://schemas.microsoft.com/office/powerpoint/2010/main" val="2606510169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1AFD1"/>
      </a:accent5>
      <a:accent6>
        <a:srgbClr val="F8E71C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504</Words>
  <Application>Microsoft Office PowerPoint</Application>
  <PresentationFormat>On-screen Show (16:9)</PresentationFormat>
  <Paragraphs>88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Source Code Pro</vt:lpstr>
      <vt:lpstr>Oswald</vt:lpstr>
      <vt:lpstr>Fira Sans</vt:lpstr>
      <vt:lpstr>Arial</vt:lpstr>
      <vt:lpstr>Modern Writer</vt:lpstr>
      <vt:lpstr>Simple Light</vt:lpstr>
      <vt:lpstr>Team: DEVILS DEN</vt:lpstr>
      <vt:lpstr>Solution Overview: Pipeline IQ</vt:lpstr>
      <vt:lpstr>The 4-Agents Workflow</vt:lpstr>
      <vt:lpstr>The Self-Learning Engine</vt:lpstr>
      <vt:lpstr>Workflow </vt:lpstr>
      <vt:lpstr>Safety &amp; Governance</vt:lpstr>
      <vt:lpstr>Comparative Analysis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Indraneel</dc:creator>
  <cp:lastModifiedBy>Indraneel Chatterjee</cp:lastModifiedBy>
  <cp:revision>7</cp:revision>
  <dcterms:modified xsi:type="dcterms:W3CDTF">2026-04-17T01:25:31Z</dcterms:modified>
</cp:coreProperties>
</file>